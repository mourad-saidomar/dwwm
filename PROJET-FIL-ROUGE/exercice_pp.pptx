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950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YT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0C99F7-3B2D-48AD-9001-F0615E899015}" type="datetimeFigureOut">
              <a:rPr lang="fr-YT" smtClean="0"/>
              <a:t>05/03/2026</a:t>
            </a:fld>
            <a:endParaRPr lang="fr-YT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YT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YT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YT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7E3BC-BA97-4AA2-B7A5-B71A51F88A4B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48968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YT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7E3BC-BA97-4AA2-B7A5-B71A51F88A4B}" type="slidenum">
              <a:rPr lang="fr-YT" smtClean="0"/>
              <a:t>1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576506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CF0BF-9870-4C16-A077-B13213EE1F4C}" type="datetimeFigureOut">
              <a:rPr lang="fr-YT" smtClean="0"/>
              <a:t>05/03/2026</a:t>
            </a:fld>
            <a:endParaRPr lang="fr-Y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4D611-A46F-4FF5-9593-0B50694B1B30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20218621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CF0BF-9870-4C16-A077-B13213EE1F4C}" type="datetimeFigureOut">
              <a:rPr lang="fr-YT" smtClean="0"/>
              <a:t>05/03/2026</a:t>
            </a:fld>
            <a:endParaRPr lang="fr-Y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4D611-A46F-4FF5-9593-0B50694B1B30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22797315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CF0BF-9870-4C16-A077-B13213EE1F4C}" type="datetimeFigureOut">
              <a:rPr lang="fr-YT" smtClean="0"/>
              <a:t>05/03/2026</a:t>
            </a:fld>
            <a:endParaRPr lang="fr-Y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4D611-A46F-4FF5-9593-0B50694B1B30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20431735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CF0BF-9870-4C16-A077-B13213EE1F4C}" type="datetimeFigureOut">
              <a:rPr lang="fr-YT" smtClean="0"/>
              <a:t>05/03/2026</a:t>
            </a:fld>
            <a:endParaRPr lang="fr-Y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4D611-A46F-4FF5-9593-0B50694B1B30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33424667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CF0BF-9870-4C16-A077-B13213EE1F4C}" type="datetimeFigureOut">
              <a:rPr lang="fr-YT" smtClean="0"/>
              <a:t>05/03/2026</a:t>
            </a:fld>
            <a:endParaRPr lang="fr-Y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4D611-A46F-4FF5-9593-0B50694B1B30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6881316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CF0BF-9870-4C16-A077-B13213EE1F4C}" type="datetimeFigureOut">
              <a:rPr lang="fr-YT" smtClean="0"/>
              <a:t>05/03/2026</a:t>
            </a:fld>
            <a:endParaRPr lang="fr-Y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4D611-A46F-4FF5-9593-0B50694B1B30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23544039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CF0BF-9870-4C16-A077-B13213EE1F4C}" type="datetimeFigureOut">
              <a:rPr lang="fr-YT" smtClean="0"/>
              <a:t>05/03/2026</a:t>
            </a:fld>
            <a:endParaRPr lang="fr-Y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4D611-A46F-4FF5-9593-0B50694B1B30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4820192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CF0BF-9870-4C16-A077-B13213EE1F4C}" type="datetimeFigureOut">
              <a:rPr lang="fr-YT" smtClean="0"/>
              <a:t>05/03/2026</a:t>
            </a:fld>
            <a:endParaRPr lang="fr-Y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4D611-A46F-4FF5-9593-0B50694B1B30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2789501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CF0BF-9870-4C16-A077-B13213EE1F4C}" type="datetimeFigureOut">
              <a:rPr lang="fr-YT" smtClean="0"/>
              <a:t>05/03/2026</a:t>
            </a:fld>
            <a:endParaRPr lang="fr-Y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4D611-A46F-4FF5-9593-0B50694B1B30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17423950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CF0BF-9870-4C16-A077-B13213EE1F4C}" type="datetimeFigureOut">
              <a:rPr lang="fr-YT" smtClean="0"/>
              <a:t>05/03/2026</a:t>
            </a:fld>
            <a:endParaRPr lang="fr-Y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4D611-A46F-4FF5-9593-0B50694B1B30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34421716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CF0BF-9870-4C16-A077-B13213EE1F4C}" type="datetimeFigureOut">
              <a:rPr lang="fr-YT" smtClean="0"/>
              <a:t>05/03/2026</a:t>
            </a:fld>
            <a:endParaRPr lang="fr-Y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4D611-A46F-4FF5-9593-0B50694B1B30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30907797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CF0BF-9870-4C16-A077-B13213EE1F4C}" type="datetimeFigureOut">
              <a:rPr lang="fr-YT" smtClean="0"/>
              <a:t>05/03/2026</a:t>
            </a:fld>
            <a:endParaRPr lang="fr-Y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4D611-A46F-4FF5-9593-0B50694B1B30}" type="slidenum">
              <a:rPr lang="fr-YT" smtClean="0"/>
              <a:t>‹N°›</a:t>
            </a:fld>
            <a:endParaRPr lang="fr-YT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182151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CF0BF-9870-4C16-A077-B13213EE1F4C}" type="datetimeFigureOut">
              <a:rPr lang="fr-YT" smtClean="0"/>
              <a:t>05/03/2026</a:t>
            </a:fld>
            <a:endParaRPr lang="fr-Y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4D611-A46F-4FF5-9593-0B50694B1B30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795968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CF0BF-9870-4C16-A077-B13213EE1F4C}" type="datetimeFigureOut">
              <a:rPr lang="fr-YT" smtClean="0"/>
              <a:t>05/03/2026</a:t>
            </a:fld>
            <a:endParaRPr lang="fr-Y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4D611-A46F-4FF5-9593-0B50694B1B30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8409184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CF0BF-9870-4C16-A077-B13213EE1F4C}" type="datetimeFigureOut">
              <a:rPr lang="fr-YT" smtClean="0"/>
              <a:t>05/03/2026</a:t>
            </a:fld>
            <a:endParaRPr lang="fr-Y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4D611-A46F-4FF5-9593-0B50694B1B30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19319376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CF0BF-9870-4C16-A077-B13213EE1F4C}" type="datetimeFigureOut">
              <a:rPr lang="fr-YT" smtClean="0"/>
              <a:t>05/03/2026</a:t>
            </a:fld>
            <a:endParaRPr lang="fr-Y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4D611-A46F-4FF5-9593-0B50694B1B30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3479134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CF0BF-9870-4C16-A077-B13213EE1F4C}" type="datetimeFigureOut">
              <a:rPr lang="fr-YT" smtClean="0"/>
              <a:t>05/03/2026</a:t>
            </a:fld>
            <a:endParaRPr lang="fr-Y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4D611-A46F-4FF5-9593-0B50694B1B30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5336179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4000">
              <a:schemeClr val="accent5">
                <a:lumMod val="67000"/>
              </a:schemeClr>
            </a:gs>
            <a:gs pos="0">
              <a:schemeClr val="tx2">
                <a:lumMod val="25000"/>
              </a:schemeClr>
            </a:gs>
            <a:gs pos="100000">
              <a:schemeClr val="tx2">
                <a:lumMod val="10000"/>
              </a:schemeClr>
            </a:gs>
          </a:gsLst>
          <a:lin ang="4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CF0BF-9870-4C16-A077-B13213EE1F4C}" type="datetimeFigureOut">
              <a:rPr lang="fr-YT" smtClean="0"/>
              <a:t>05/03/2026</a:t>
            </a:fld>
            <a:endParaRPr lang="fr-Y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Y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54D611-A46F-4FF5-9593-0B50694B1B30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36140311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e 6">
            <a:extLst>
              <a:ext uri="{FF2B5EF4-FFF2-40B4-BE49-F238E27FC236}">
                <a16:creationId xmlns:a16="http://schemas.microsoft.com/office/drawing/2014/main" id="{4B2C99EB-B449-F6C9-2EAB-ABA2C1D0CBAE}"/>
              </a:ext>
            </a:extLst>
          </p:cNvPr>
          <p:cNvGrpSpPr/>
          <p:nvPr/>
        </p:nvGrpSpPr>
        <p:grpSpPr>
          <a:xfrm>
            <a:off x="0" y="2659559"/>
            <a:ext cx="12192000" cy="954107"/>
            <a:chOff x="0" y="2659559"/>
            <a:chExt cx="12192000" cy="954107"/>
          </a:xfrm>
        </p:grpSpPr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391FE72E-D6E5-46C1-C7ED-283D1636FD99}"/>
                </a:ext>
              </a:extLst>
            </p:cNvPr>
            <p:cNvSpPr txBox="1"/>
            <p:nvPr/>
          </p:nvSpPr>
          <p:spPr>
            <a:xfrm>
              <a:off x="0" y="2659559"/>
              <a:ext cx="121920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anose="02010803020104030203" pitchFamily="2" charset="-79"/>
                  <a:ea typeface="ADLaM Display" panose="020F0502020204030204" pitchFamily="2" charset="0"/>
                  <a:cs typeface="Aharoni" panose="02010803020104030203" pitchFamily="2" charset="-79"/>
                </a:rPr>
                <a:t>DEVELOPPEUR WEB - WEB MOBILE</a:t>
              </a:r>
              <a:endParaRPr lang="fr-YT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ADLaM Display" panose="020F0502020204030204" pitchFamily="2" charset="0"/>
                <a:cs typeface="Aharoni" panose="02010803020104030203" pitchFamily="2" charset="-79"/>
              </a:endParaRPr>
            </a:p>
          </p:txBody>
        </p:sp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103BB19E-6D7C-ADAE-0842-A1DCD6ED9CAB}"/>
                </a:ext>
              </a:extLst>
            </p:cNvPr>
            <p:cNvSpPr txBox="1">
              <a:spLocks/>
            </p:cNvSpPr>
            <p:nvPr/>
          </p:nvSpPr>
          <p:spPr>
            <a:xfrm>
              <a:off x="0" y="3244334"/>
              <a:ext cx="1219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latin typeface="Aharoni" panose="02010803020104030203" pitchFamily="2" charset="-79"/>
                  <a:cs typeface="Aharoni" panose="02010803020104030203" pitchFamily="2" charset="-79"/>
                </a:rPr>
                <a:t>Centre de formation ALOALO Mayotte Compétences</a:t>
              </a:r>
              <a:endParaRPr lang="fr-YT"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sp>
        <p:nvSpPr>
          <p:cNvPr id="8" name="ZoneTexte 7">
            <a:extLst>
              <a:ext uri="{FF2B5EF4-FFF2-40B4-BE49-F238E27FC236}">
                <a16:creationId xmlns:a16="http://schemas.microsoft.com/office/drawing/2014/main" id="{669E7B46-E7F3-2AA6-7B94-0B45AFB14E6B}"/>
              </a:ext>
            </a:extLst>
          </p:cNvPr>
          <p:cNvSpPr txBox="1"/>
          <p:nvPr/>
        </p:nvSpPr>
        <p:spPr>
          <a:xfrm>
            <a:off x="1333283" y="7090843"/>
            <a:ext cx="7955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Règle de fonctionnement</a:t>
            </a:r>
            <a:endParaRPr lang="fr-YT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0" name="Organigramme : Connecteur 9">
            <a:extLst>
              <a:ext uri="{FF2B5EF4-FFF2-40B4-BE49-F238E27FC236}">
                <a16:creationId xmlns:a16="http://schemas.microsoft.com/office/drawing/2014/main" id="{657FAE92-CD89-6353-B883-5AF6F7BEF360}"/>
              </a:ext>
            </a:extLst>
          </p:cNvPr>
          <p:cNvSpPr/>
          <p:nvPr/>
        </p:nvSpPr>
        <p:spPr>
          <a:xfrm>
            <a:off x="2504305" y="7090843"/>
            <a:ext cx="6784258" cy="6779369"/>
          </a:xfrm>
          <a:prstGeom prst="flowChartConnector">
            <a:avLst/>
          </a:prstGeom>
          <a:gradFill>
            <a:gsLst>
              <a:gs pos="48000">
                <a:schemeClr val="accent5">
                  <a:lumMod val="67000"/>
                </a:schemeClr>
              </a:gs>
              <a:gs pos="0">
                <a:schemeClr val="tx2">
                  <a:lumMod val="25000"/>
                </a:schemeClr>
              </a:gs>
              <a:gs pos="100000">
                <a:schemeClr val="tx2">
                  <a:lumMod val="10000"/>
                </a:schemeClr>
              </a:gs>
            </a:gsLst>
            <a:lin ang="6600000" scaled="0"/>
          </a:gradFill>
          <a:ln w="3175" cap="flat" cmpd="sng">
            <a:gradFill>
              <a:gsLst>
                <a:gs pos="0">
                  <a:srgbClr val="002060"/>
                </a:gs>
                <a:gs pos="51000">
                  <a:schemeClr val="accent5">
                    <a:lumMod val="75000"/>
                  </a:schemeClr>
                </a:gs>
                <a:gs pos="100000">
                  <a:srgbClr val="002060"/>
                </a:gs>
              </a:gsLst>
              <a:lin ang="5400000" scaled="1"/>
            </a:gradFill>
            <a:prstDash val="solid"/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6784258"/>
                      <a:gd name="csY0" fmla="*/ 3389685 h 6779369"/>
                      <a:gd name="csX1" fmla="*/ 3392129 w 6784258"/>
                      <a:gd name="csY1" fmla="*/ 0 h 6779369"/>
                      <a:gd name="csX2" fmla="*/ 6784258 w 6784258"/>
                      <a:gd name="csY2" fmla="*/ 3389685 h 6779369"/>
                      <a:gd name="csX3" fmla="*/ 3392129 w 6784258"/>
                      <a:gd name="csY3" fmla="*/ 6779370 h 6779369"/>
                      <a:gd name="csX4" fmla="*/ 0 w 6784258"/>
                      <a:gd name="csY4" fmla="*/ 3389685 h 677936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6784258" h="6779369" fill="none" extrusionOk="0">
                        <a:moveTo>
                          <a:pt x="0" y="3389685"/>
                        </a:moveTo>
                        <a:cubicBezTo>
                          <a:pt x="254134" y="1547762"/>
                          <a:pt x="1581705" y="-129647"/>
                          <a:pt x="3392129" y="0"/>
                        </a:cubicBezTo>
                        <a:cubicBezTo>
                          <a:pt x="4962537" y="-46402"/>
                          <a:pt x="6561996" y="1726872"/>
                          <a:pt x="6784258" y="3389685"/>
                        </a:cubicBezTo>
                        <a:cubicBezTo>
                          <a:pt x="6762174" y="5051157"/>
                          <a:pt x="5104322" y="7003431"/>
                          <a:pt x="3392129" y="6779370"/>
                        </a:cubicBezTo>
                        <a:cubicBezTo>
                          <a:pt x="1631229" y="6842364"/>
                          <a:pt x="98020" y="5285324"/>
                          <a:pt x="0" y="3389685"/>
                        </a:cubicBezTo>
                        <a:close/>
                      </a:path>
                      <a:path w="6784258" h="6779369" stroke="0" extrusionOk="0">
                        <a:moveTo>
                          <a:pt x="0" y="3389685"/>
                        </a:moveTo>
                        <a:cubicBezTo>
                          <a:pt x="-92677" y="1460449"/>
                          <a:pt x="1201413" y="119086"/>
                          <a:pt x="3392129" y="0"/>
                        </a:cubicBezTo>
                        <a:cubicBezTo>
                          <a:pt x="5430572" y="34741"/>
                          <a:pt x="6534295" y="1525562"/>
                          <a:pt x="6784258" y="3389685"/>
                        </a:cubicBezTo>
                        <a:cubicBezTo>
                          <a:pt x="6597623" y="5444015"/>
                          <a:pt x="5249937" y="6865667"/>
                          <a:pt x="3392129" y="6779370"/>
                        </a:cubicBezTo>
                        <a:cubicBezTo>
                          <a:pt x="1430768" y="6731256"/>
                          <a:pt x="56147" y="5288583"/>
                          <a:pt x="0" y="338968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19460449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0000">
              <a:schemeClr val="accent5">
                <a:lumMod val="67000"/>
              </a:schemeClr>
            </a:gs>
            <a:gs pos="12000">
              <a:schemeClr val="tx2">
                <a:lumMod val="25000"/>
              </a:schemeClr>
            </a:gs>
            <a:gs pos="100000">
              <a:schemeClr val="tx2">
                <a:lumMod val="10000"/>
              </a:schemeClr>
            </a:gs>
          </a:gsLst>
          <a:lin ang="4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80A63934-6722-7458-9D28-0E269CF3A65A}"/>
              </a:ext>
            </a:extLst>
          </p:cNvPr>
          <p:cNvSpPr txBox="1"/>
          <p:nvPr/>
        </p:nvSpPr>
        <p:spPr>
          <a:xfrm>
            <a:off x="575818" y="478897"/>
            <a:ext cx="7955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Règle de fonctionnement</a:t>
            </a:r>
            <a:endParaRPr lang="fr-YT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9A3D2307-D208-E9A9-D094-A391C75CA63C}"/>
              </a:ext>
            </a:extLst>
          </p:cNvPr>
          <p:cNvGrpSpPr/>
          <p:nvPr/>
        </p:nvGrpSpPr>
        <p:grpSpPr>
          <a:xfrm>
            <a:off x="-188686" y="-1172213"/>
            <a:ext cx="12192000" cy="954107"/>
            <a:chOff x="0" y="2659559"/>
            <a:chExt cx="12192000" cy="954107"/>
          </a:xfrm>
        </p:grpSpPr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54AFC7F8-DC18-E686-78B9-90149517705D}"/>
                </a:ext>
              </a:extLst>
            </p:cNvPr>
            <p:cNvSpPr txBox="1"/>
            <p:nvPr/>
          </p:nvSpPr>
          <p:spPr>
            <a:xfrm>
              <a:off x="0" y="2659559"/>
              <a:ext cx="121920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anose="02010803020104030203" pitchFamily="2" charset="-79"/>
                  <a:ea typeface="ADLaM Display" panose="020F0502020204030204" pitchFamily="2" charset="0"/>
                  <a:cs typeface="Aharoni" panose="02010803020104030203" pitchFamily="2" charset="-79"/>
                </a:rPr>
                <a:t>DEVELOPPEUR WEB - WEB MOBILE</a:t>
              </a:r>
              <a:endParaRPr lang="fr-YT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ADLaM Display" panose="020F0502020204030204" pitchFamily="2" charset="0"/>
                <a:cs typeface="Aharoni" panose="02010803020104030203" pitchFamily="2" charset="-79"/>
              </a:endParaRPr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8B67FB70-622A-26FA-3E80-A5E88BA1B7FB}"/>
                </a:ext>
              </a:extLst>
            </p:cNvPr>
            <p:cNvSpPr txBox="1">
              <a:spLocks/>
            </p:cNvSpPr>
            <p:nvPr/>
          </p:nvSpPr>
          <p:spPr>
            <a:xfrm>
              <a:off x="0" y="3244334"/>
              <a:ext cx="1219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latin typeface="Aharoni" panose="02010803020104030203" pitchFamily="2" charset="-79"/>
                  <a:cs typeface="Aharoni" panose="02010803020104030203" pitchFamily="2" charset="-79"/>
                </a:rPr>
                <a:t>Centre de formation ALOALO Mayotte Compétences</a:t>
              </a:r>
              <a:endParaRPr lang="fr-YT"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sp>
        <p:nvSpPr>
          <p:cNvPr id="23" name="Organigramme : Connecteur 22">
            <a:extLst>
              <a:ext uri="{FF2B5EF4-FFF2-40B4-BE49-F238E27FC236}">
                <a16:creationId xmlns:a16="http://schemas.microsoft.com/office/drawing/2014/main" id="{46F1F199-3900-7166-9998-330579280D33}"/>
              </a:ext>
            </a:extLst>
          </p:cNvPr>
          <p:cNvSpPr/>
          <p:nvPr/>
        </p:nvSpPr>
        <p:spPr>
          <a:xfrm>
            <a:off x="3404572" y="4337247"/>
            <a:ext cx="5382856" cy="5359203"/>
          </a:xfrm>
          <a:prstGeom prst="flowChartConnector">
            <a:avLst/>
          </a:prstGeom>
          <a:gradFill>
            <a:gsLst>
              <a:gs pos="48000">
                <a:schemeClr val="accent5">
                  <a:lumMod val="67000"/>
                </a:schemeClr>
              </a:gs>
              <a:gs pos="0">
                <a:schemeClr val="tx2">
                  <a:lumMod val="25000"/>
                </a:schemeClr>
              </a:gs>
              <a:gs pos="100000">
                <a:schemeClr val="tx2">
                  <a:lumMod val="10000"/>
                </a:schemeClr>
              </a:gs>
            </a:gsLst>
            <a:lin ang="6600000" scaled="0"/>
          </a:gradFill>
          <a:ln w="3175" cap="flat" cmpd="sng">
            <a:gradFill>
              <a:gsLst>
                <a:gs pos="0">
                  <a:srgbClr val="002060"/>
                </a:gs>
                <a:gs pos="51000">
                  <a:schemeClr val="accent5">
                    <a:lumMod val="75000"/>
                  </a:schemeClr>
                </a:gs>
                <a:gs pos="100000">
                  <a:srgbClr val="002060"/>
                </a:gs>
              </a:gsLst>
              <a:lin ang="5400000" scaled="1"/>
            </a:gradFill>
            <a:prstDash val="solid"/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6784258"/>
                      <a:gd name="csY0" fmla="*/ 3389685 h 6779369"/>
                      <a:gd name="csX1" fmla="*/ 3392129 w 6784258"/>
                      <a:gd name="csY1" fmla="*/ 0 h 6779369"/>
                      <a:gd name="csX2" fmla="*/ 6784258 w 6784258"/>
                      <a:gd name="csY2" fmla="*/ 3389685 h 6779369"/>
                      <a:gd name="csX3" fmla="*/ 3392129 w 6784258"/>
                      <a:gd name="csY3" fmla="*/ 6779370 h 6779369"/>
                      <a:gd name="csX4" fmla="*/ 0 w 6784258"/>
                      <a:gd name="csY4" fmla="*/ 3389685 h 677936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6784258" h="6779369" fill="none" extrusionOk="0">
                        <a:moveTo>
                          <a:pt x="0" y="3389685"/>
                        </a:moveTo>
                        <a:cubicBezTo>
                          <a:pt x="254134" y="1547762"/>
                          <a:pt x="1581705" y="-129647"/>
                          <a:pt x="3392129" y="0"/>
                        </a:cubicBezTo>
                        <a:cubicBezTo>
                          <a:pt x="4962537" y="-46402"/>
                          <a:pt x="6561996" y="1726872"/>
                          <a:pt x="6784258" y="3389685"/>
                        </a:cubicBezTo>
                        <a:cubicBezTo>
                          <a:pt x="6762174" y="5051157"/>
                          <a:pt x="5104322" y="7003431"/>
                          <a:pt x="3392129" y="6779370"/>
                        </a:cubicBezTo>
                        <a:cubicBezTo>
                          <a:pt x="1631229" y="6842364"/>
                          <a:pt x="98020" y="5285324"/>
                          <a:pt x="0" y="3389685"/>
                        </a:cubicBezTo>
                        <a:close/>
                      </a:path>
                      <a:path w="6784258" h="6779369" stroke="0" extrusionOk="0">
                        <a:moveTo>
                          <a:pt x="0" y="3389685"/>
                        </a:moveTo>
                        <a:cubicBezTo>
                          <a:pt x="-92677" y="1460449"/>
                          <a:pt x="1201413" y="119086"/>
                          <a:pt x="3392129" y="0"/>
                        </a:cubicBezTo>
                        <a:cubicBezTo>
                          <a:pt x="5430572" y="34741"/>
                          <a:pt x="6534295" y="1525562"/>
                          <a:pt x="6784258" y="3389685"/>
                        </a:cubicBezTo>
                        <a:cubicBezTo>
                          <a:pt x="6597623" y="5444015"/>
                          <a:pt x="5249937" y="6865667"/>
                          <a:pt x="3392129" y="6779370"/>
                        </a:cubicBezTo>
                        <a:cubicBezTo>
                          <a:pt x="1430768" y="6731256"/>
                          <a:pt x="56147" y="5288583"/>
                          <a:pt x="0" y="338968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YT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DFCBC6F5-8182-8DC7-F298-90F663FCF97F}"/>
              </a:ext>
            </a:extLst>
          </p:cNvPr>
          <p:cNvSpPr txBox="1"/>
          <p:nvPr/>
        </p:nvSpPr>
        <p:spPr>
          <a:xfrm>
            <a:off x="-697103" y="10238503"/>
            <a:ext cx="8860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Aharoni" panose="02010803020104030203" pitchFamily="2" charset="-79"/>
                <a:cs typeface="Aharoni" panose="02010803020104030203" pitchFamily="2" charset="-79"/>
              </a:rPr>
              <a:t>Entraide et Esprit d'équipe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06C8CADC-1F53-CDCA-C9AC-C49E59478FEC}"/>
              </a:ext>
            </a:extLst>
          </p:cNvPr>
          <p:cNvSpPr txBox="1"/>
          <p:nvPr/>
        </p:nvSpPr>
        <p:spPr>
          <a:xfrm>
            <a:off x="-342900" y="7405667"/>
            <a:ext cx="39147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latin typeface="Aharoni" panose="02010803020104030203" pitchFamily="2" charset="-79"/>
                <a:cs typeface="Aharoni" panose="02010803020104030203" pitchFamily="2" charset="-79"/>
              </a:rPr>
              <a:t>Ponctualité et Assiduité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3DC97921-F2F3-D4A7-D938-2EC0EFA61B3B}"/>
              </a:ext>
            </a:extLst>
          </p:cNvPr>
          <p:cNvSpPr txBox="1"/>
          <p:nvPr/>
        </p:nvSpPr>
        <p:spPr>
          <a:xfrm>
            <a:off x="-1312636" y="8749001"/>
            <a:ext cx="68770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latin typeface="Aharoni" panose="02010803020104030203" pitchFamily="2" charset="-79"/>
                <a:cs typeface="Aharoni" panose="02010803020104030203" pitchFamily="2" charset="-79"/>
              </a:rPr>
              <a:t>Respect et Communication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A17B2D2E-CF94-7505-7B81-A685362521B3}"/>
              </a:ext>
            </a:extLst>
          </p:cNvPr>
          <p:cNvSpPr txBox="1"/>
          <p:nvPr/>
        </p:nvSpPr>
        <p:spPr>
          <a:xfrm>
            <a:off x="-2152142" y="9395332"/>
            <a:ext cx="68770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latin typeface="Aharoni" panose="02010803020104030203" pitchFamily="2" charset="-79"/>
                <a:cs typeface="Aharoni" panose="02010803020104030203" pitchFamily="2" charset="-79"/>
              </a:rPr>
              <a:t>Engagement et Travail personnel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480EBAAB-0EED-A1E9-16C1-14F6B2CEC5A3}"/>
              </a:ext>
            </a:extLst>
          </p:cNvPr>
          <p:cNvSpPr txBox="1"/>
          <p:nvPr/>
        </p:nvSpPr>
        <p:spPr>
          <a:xfrm>
            <a:off x="366268" y="11216718"/>
            <a:ext cx="68770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latin typeface="Aharoni" panose="02010803020104030203" pitchFamily="2" charset="-79"/>
                <a:cs typeface="Aharoni" panose="02010803020104030203" pitchFamily="2" charset="-79"/>
              </a:rPr>
              <a:t>Posture Professionnelle</a:t>
            </a:r>
          </a:p>
        </p:txBody>
      </p:sp>
    </p:spTree>
    <p:extLst>
      <p:ext uri="{BB962C8B-B14F-4D97-AF65-F5344CB8AC3E}">
        <p14:creationId xmlns:p14="http://schemas.microsoft.com/office/powerpoint/2010/main" val="26773601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D44BC-DE1D-DDFD-ED97-8CC50AD13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rganigramme : Connecteur 22">
            <a:extLst>
              <a:ext uri="{FF2B5EF4-FFF2-40B4-BE49-F238E27FC236}">
                <a16:creationId xmlns:a16="http://schemas.microsoft.com/office/drawing/2014/main" id="{33D74ADB-D010-6F70-CC09-9B7211FAC787}"/>
              </a:ext>
            </a:extLst>
          </p:cNvPr>
          <p:cNvSpPr/>
          <p:nvPr/>
        </p:nvSpPr>
        <p:spPr>
          <a:xfrm>
            <a:off x="3404572" y="4337247"/>
            <a:ext cx="5382856" cy="5359203"/>
          </a:xfrm>
          <a:prstGeom prst="flowChartConnector">
            <a:avLst/>
          </a:prstGeom>
          <a:gradFill>
            <a:gsLst>
              <a:gs pos="48000">
                <a:schemeClr val="accent5">
                  <a:lumMod val="67000"/>
                </a:schemeClr>
              </a:gs>
              <a:gs pos="0">
                <a:schemeClr val="tx2">
                  <a:lumMod val="25000"/>
                </a:schemeClr>
              </a:gs>
              <a:gs pos="100000">
                <a:schemeClr val="tx2">
                  <a:lumMod val="10000"/>
                </a:schemeClr>
              </a:gs>
            </a:gsLst>
            <a:lin ang="6600000" scaled="0"/>
          </a:gradFill>
          <a:ln w="3175" cap="flat" cmpd="sng">
            <a:gradFill>
              <a:gsLst>
                <a:gs pos="0">
                  <a:srgbClr val="002060"/>
                </a:gs>
                <a:gs pos="51000">
                  <a:schemeClr val="accent5">
                    <a:lumMod val="75000"/>
                  </a:schemeClr>
                </a:gs>
                <a:gs pos="100000">
                  <a:srgbClr val="002060"/>
                </a:gs>
              </a:gsLst>
              <a:lin ang="5400000" scaled="1"/>
            </a:gradFill>
            <a:prstDash val="solid"/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6784258"/>
                      <a:gd name="csY0" fmla="*/ 3389685 h 6779369"/>
                      <a:gd name="csX1" fmla="*/ 3392129 w 6784258"/>
                      <a:gd name="csY1" fmla="*/ 0 h 6779369"/>
                      <a:gd name="csX2" fmla="*/ 6784258 w 6784258"/>
                      <a:gd name="csY2" fmla="*/ 3389685 h 6779369"/>
                      <a:gd name="csX3" fmla="*/ 3392129 w 6784258"/>
                      <a:gd name="csY3" fmla="*/ 6779370 h 6779369"/>
                      <a:gd name="csX4" fmla="*/ 0 w 6784258"/>
                      <a:gd name="csY4" fmla="*/ 3389685 h 677936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6784258" h="6779369" fill="none" extrusionOk="0">
                        <a:moveTo>
                          <a:pt x="0" y="3389685"/>
                        </a:moveTo>
                        <a:cubicBezTo>
                          <a:pt x="254134" y="1547762"/>
                          <a:pt x="1581705" y="-129647"/>
                          <a:pt x="3392129" y="0"/>
                        </a:cubicBezTo>
                        <a:cubicBezTo>
                          <a:pt x="4962537" y="-46402"/>
                          <a:pt x="6561996" y="1726872"/>
                          <a:pt x="6784258" y="3389685"/>
                        </a:cubicBezTo>
                        <a:cubicBezTo>
                          <a:pt x="6762174" y="5051157"/>
                          <a:pt x="5104322" y="7003431"/>
                          <a:pt x="3392129" y="6779370"/>
                        </a:cubicBezTo>
                        <a:cubicBezTo>
                          <a:pt x="1631229" y="6842364"/>
                          <a:pt x="98020" y="5285324"/>
                          <a:pt x="0" y="3389685"/>
                        </a:cubicBezTo>
                        <a:close/>
                      </a:path>
                      <a:path w="6784258" h="6779369" stroke="0" extrusionOk="0">
                        <a:moveTo>
                          <a:pt x="0" y="3389685"/>
                        </a:moveTo>
                        <a:cubicBezTo>
                          <a:pt x="-92677" y="1460449"/>
                          <a:pt x="1201413" y="119086"/>
                          <a:pt x="3392129" y="0"/>
                        </a:cubicBezTo>
                        <a:cubicBezTo>
                          <a:pt x="5430572" y="34741"/>
                          <a:pt x="6534295" y="1525562"/>
                          <a:pt x="6784258" y="3389685"/>
                        </a:cubicBezTo>
                        <a:cubicBezTo>
                          <a:pt x="6597623" y="5444015"/>
                          <a:pt x="5249937" y="6865667"/>
                          <a:pt x="3392129" y="6779370"/>
                        </a:cubicBezTo>
                        <a:cubicBezTo>
                          <a:pt x="1430768" y="6731256"/>
                          <a:pt x="56147" y="5288583"/>
                          <a:pt x="0" y="338968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YT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F9C3A72-9022-B4FC-9237-784BDBA5413A}"/>
              </a:ext>
            </a:extLst>
          </p:cNvPr>
          <p:cNvSpPr txBox="1"/>
          <p:nvPr/>
        </p:nvSpPr>
        <p:spPr>
          <a:xfrm>
            <a:off x="-354203" y="8428753"/>
            <a:ext cx="8860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Aharoni" panose="02010803020104030203" pitchFamily="2" charset="-79"/>
                <a:cs typeface="Aharoni" panose="02010803020104030203" pitchFamily="2" charset="-79"/>
              </a:rPr>
              <a:t>Entraide et Esprit d'équipe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C2177666-2137-98BE-7AAE-B2E6B84566C3}"/>
              </a:ext>
            </a:extLst>
          </p:cNvPr>
          <p:cNvSpPr txBox="1"/>
          <p:nvPr/>
        </p:nvSpPr>
        <p:spPr>
          <a:xfrm>
            <a:off x="0" y="5595917"/>
            <a:ext cx="39147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latin typeface="Aharoni" panose="02010803020104030203" pitchFamily="2" charset="-79"/>
                <a:cs typeface="Aharoni" panose="02010803020104030203" pitchFamily="2" charset="-79"/>
              </a:rPr>
              <a:t>Ponctualité et Assiduité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71BD6A9D-06DA-65DC-C16B-6D7A73F638A3}"/>
              </a:ext>
            </a:extLst>
          </p:cNvPr>
          <p:cNvSpPr txBox="1"/>
          <p:nvPr/>
        </p:nvSpPr>
        <p:spPr>
          <a:xfrm>
            <a:off x="-969736" y="6939251"/>
            <a:ext cx="68770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latin typeface="Aharoni" panose="02010803020104030203" pitchFamily="2" charset="-79"/>
                <a:cs typeface="Aharoni" panose="02010803020104030203" pitchFamily="2" charset="-79"/>
              </a:rPr>
              <a:t>Respect et Communication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880D63FB-A666-6940-4957-D8583117E3CD}"/>
              </a:ext>
            </a:extLst>
          </p:cNvPr>
          <p:cNvSpPr txBox="1"/>
          <p:nvPr/>
        </p:nvSpPr>
        <p:spPr>
          <a:xfrm>
            <a:off x="-1809242" y="7585582"/>
            <a:ext cx="68770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latin typeface="Aharoni" panose="02010803020104030203" pitchFamily="2" charset="-79"/>
                <a:cs typeface="Aharoni" panose="02010803020104030203" pitchFamily="2" charset="-79"/>
              </a:rPr>
              <a:t>Engagement et Travail personnel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510E61D7-3369-0228-17F1-40139804B5D4}"/>
              </a:ext>
            </a:extLst>
          </p:cNvPr>
          <p:cNvSpPr txBox="1"/>
          <p:nvPr/>
        </p:nvSpPr>
        <p:spPr>
          <a:xfrm>
            <a:off x="709168" y="9406968"/>
            <a:ext cx="68770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latin typeface="Aharoni" panose="02010803020104030203" pitchFamily="2" charset="-79"/>
                <a:cs typeface="Aharoni" panose="02010803020104030203" pitchFamily="2" charset="-79"/>
              </a:rPr>
              <a:t>Posture Professionnelle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6AD6B0E-0345-F42F-56C6-915A31468DCF}"/>
              </a:ext>
            </a:extLst>
          </p:cNvPr>
          <p:cNvSpPr txBox="1"/>
          <p:nvPr/>
        </p:nvSpPr>
        <p:spPr>
          <a:xfrm>
            <a:off x="575818" y="478897"/>
            <a:ext cx="7955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Règle de fonctionnement</a:t>
            </a:r>
            <a:endParaRPr lang="fr-YT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534468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D512C-DF19-ADBB-2686-E3D5A78F3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rganigramme : Connecteur 22">
            <a:extLst>
              <a:ext uri="{FF2B5EF4-FFF2-40B4-BE49-F238E27FC236}">
                <a16:creationId xmlns:a16="http://schemas.microsoft.com/office/drawing/2014/main" id="{BEA5A1E4-662D-4500-13E0-8B2D550BF77B}"/>
              </a:ext>
            </a:extLst>
          </p:cNvPr>
          <p:cNvSpPr/>
          <p:nvPr/>
        </p:nvSpPr>
        <p:spPr>
          <a:xfrm>
            <a:off x="3404572" y="4337247"/>
            <a:ext cx="5382856" cy="5359203"/>
          </a:xfrm>
          <a:prstGeom prst="flowChartConnector">
            <a:avLst/>
          </a:prstGeom>
          <a:gradFill>
            <a:gsLst>
              <a:gs pos="48000">
                <a:schemeClr val="accent5">
                  <a:lumMod val="67000"/>
                </a:schemeClr>
              </a:gs>
              <a:gs pos="0">
                <a:schemeClr val="tx2">
                  <a:lumMod val="25000"/>
                </a:schemeClr>
              </a:gs>
              <a:gs pos="100000">
                <a:schemeClr val="tx2">
                  <a:lumMod val="10000"/>
                </a:schemeClr>
              </a:gs>
            </a:gsLst>
            <a:lin ang="9000000" scaled="0"/>
          </a:gradFill>
          <a:ln w="3175" cap="flat" cmpd="sng">
            <a:gradFill>
              <a:gsLst>
                <a:gs pos="0">
                  <a:srgbClr val="002060"/>
                </a:gs>
                <a:gs pos="51000">
                  <a:schemeClr val="accent5">
                    <a:lumMod val="75000"/>
                  </a:schemeClr>
                </a:gs>
                <a:gs pos="100000">
                  <a:srgbClr val="002060"/>
                </a:gs>
              </a:gsLst>
              <a:lin ang="5400000" scaled="1"/>
            </a:gradFill>
            <a:prstDash val="solid"/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6784258"/>
                      <a:gd name="csY0" fmla="*/ 3389685 h 6779369"/>
                      <a:gd name="csX1" fmla="*/ 3392129 w 6784258"/>
                      <a:gd name="csY1" fmla="*/ 0 h 6779369"/>
                      <a:gd name="csX2" fmla="*/ 6784258 w 6784258"/>
                      <a:gd name="csY2" fmla="*/ 3389685 h 6779369"/>
                      <a:gd name="csX3" fmla="*/ 3392129 w 6784258"/>
                      <a:gd name="csY3" fmla="*/ 6779370 h 6779369"/>
                      <a:gd name="csX4" fmla="*/ 0 w 6784258"/>
                      <a:gd name="csY4" fmla="*/ 3389685 h 677936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6784258" h="6779369" fill="none" extrusionOk="0">
                        <a:moveTo>
                          <a:pt x="0" y="3389685"/>
                        </a:moveTo>
                        <a:cubicBezTo>
                          <a:pt x="254134" y="1547762"/>
                          <a:pt x="1581705" y="-129647"/>
                          <a:pt x="3392129" y="0"/>
                        </a:cubicBezTo>
                        <a:cubicBezTo>
                          <a:pt x="4962537" y="-46402"/>
                          <a:pt x="6561996" y="1726872"/>
                          <a:pt x="6784258" y="3389685"/>
                        </a:cubicBezTo>
                        <a:cubicBezTo>
                          <a:pt x="6762174" y="5051157"/>
                          <a:pt x="5104322" y="7003431"/>
                          <a:pt x="3392129" y="6779370"/>
                        </a:cubicBezTo>
                        <a:cubicBezTo>
                          <a:pt x="1631229" y="6842364"/>
                          <a:pt x="98020" y="5285324"/>
                          <a:pt x="0" y="3389685"/>
                        </a:cubicBezTo>
                        <a:close/>
                      </a:path>
                      <a:path w="6784258" h="6779369" stroke="0" extrusionOk="0">
                        <a:moveTo>
                          <a:pt x="0" y="3389685"/>
                        </a:moveTo>
                        <a:cubicBezTo>
                          <a:pt x="-92677" y="1460449"/>
                          <a:pt x="1201413" y="119086"/>
                          <a:pt x="3392129" y="0"/>
                        </a:cubicBezTo>
                        <a:cubicBezTo>
                          <a:pt x="5430572" y="34741"/>
                          <a:pt x="6534295" y="1525562"/>
                          <a:pt x="6784258" y="3389685"/>
                        </a:cubicBezTo>
                        <a:cubicBezTo>
                          <a:pt x="6597623" y="5444015"/>
                          <a:pt x="5249937" y="6865667"/>
                          <a:pt x="3392129" y="6779370"/>
                        </a:cubicBezTo>
                        <a:cubicBezTo>
                          <a:pt x="1430768" y="6731256"/>
                          <a:pt x="56147" y="5288583"/>
                          <a:pt x="0" y="338968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YT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34851683-455D-E62B-18F8-5D5B2F290131}"/>
              </a:ext>
            </a:extLst>
          </p:cNvPr>
          <p:cNvSpPr txBox="1"/>
          <p:nvPr/>
        </p:nvSpPr>
        <p:spPr>
          <a:xfrm>
            <a:off x="-354203" y="8428753"/>
            <a:ext cx="8860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Aharoni" panose="02010803020104030203" pitchFamily="2" charset="-79"/>
                <a:cs typeface="Aharoni" panose="02010803020104030203" pitchFamily="2" charset="-79"/>
              </a:rPr>
              <a:t>Entraide et Esprit d'équipe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EAFF848A-CA1F-769D-6516-2BD1EC82AE34}"/>
              </a:ext>
            </a:extLst>
          </p:cNvPr>
          <p:cNvSpPr txBox="1"/>
          <p:nvPr/>
        </p:nvSpPr>
        <p:spPr>
          <a:xfrm>
            <a:off x="1629283" y="3951219"/>
            <a:ext cx="39147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latin typeface="Aharoni" panose="02010803020104030203" pitchFamily="2" charset="-79"/>
                <a:cs typeface="Aharoni" panose="02010803020104030203" pitchFamily="2" charset="-79"/>
              </a:rPr>
              <a:t>Ponctualité et Assiduité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E61476D6-19B8-FFA1-7E92-C4705CD68BBC}"/>
              </a:ext>
            </a:extLst>
          </p:cNvPr>
          <p:cNvSpPr txBox="1"/>
          <p:nvPr/>
        </p:nvSpPr>
        <p:spPr>
          <a:xfrm>
            <a:off x="0" y="4988084"/>
            <a:ext cx="68770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latin typeface="Aharoni" panose="02010803020104030203" pitchFamily="2" charset="-79"/>
                <a:cs typeface="Aharoni" panose="02010803020104030203" pitchFamily="2" charset="-79"/>
              </a:rPr>
              <a:t>Respect et Communication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7E570D47-7988-AF80-9EBF-4AA10066A1CA}"/>
              </a:ext>
            </a:extLst>
          </p:cNvPr>
          <p:cNvSpPr txBox="1"/>
          <p:nvPr/>
        </p:nvSpPr>
        <p:spPr>
          <a:xfrm>
            <a:off x="709168" y="9406968"/>
            <a:ext cx="68770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latin typeface="Aharoni" panose="02010803020104030203" pitchFamily="2" charset="-79"/>
                <a:cs typeface="Aharoni" panose="02010803020104030203" pitchFamily="2" charset="-79"/>
              </a:rPr>
              <a:t>Posture Professionnelle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231D9C1-5E38-B945-7437-4C54123FF971}"/>
              </a:ext>
            </a:extLst>
          </p:cNvPr>
          <p:cNvSpPr txBox="1"/>
          <p:nvPr/>
        </p:nvSpPr>
        <p:spPr>
          <a:xfrm>
            <a:off x="-197444" y="7207222"/>
            <a:ext cx="304385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latin typeface="Aharoni" panose="02010803020104030203" pitchFamily="2" charset="-79"/>
                <a:cs typeface="Aharoni" panose="02010803020104030203" pitchFamily="2" charset="-79"/>
              </a:rPr>
              <a:t>Engagement et Travail personnel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F65A14B-A3A3-3C8D-147B-127AD7432561}"/>
              </a:ext>
            </a:extLst>
          </p:cNvPr>
          <p:cNvSpPr txBox="1"/>
          <p:nvPr/>
        </p:nvSpPr>
        <p:spPr>
          <a:xfrm>
            <a:off x="575818" y="478897"/>
            <a:ext cx="7955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Règle de fonctionnement</a:t>
            </a:r>
            <a:endParaRPr lang="fr-YT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4845646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E102C-4432-76F8-3BA0-60C6170A2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rganigramme : Connecteur 22">
            <a:extLst>
              <a:ext uri="{FF2B5EF4-FFF2-40B4-BE49-F238E27FC236}">
                <a16:creationId xmlns:a16="http://schemas.microsoft.com/office/drawing/2014/main" id="{A7E063D5-76B1-9072-FDB9-BF6462DE5033}"/>
              </a:ext>
            </a:extLst>
          </p:cNvPr>
          <p:cNvSpPr/>
          <p:nvPr/>
        </p:nvSpPr>
        <p:spPr>
          <a:xfrm>
            <a:off x="3404572" y="4337247"/>
            <a:ext cx="5382856" cy="5359203"/>
          </a:xfrm>
          <a:prstGeom prst="flowChartConnector">
            <a:avLst/>
          </a:prstGeom>
          <a:gradFill>
            <a:gsLst>
              <a:gs pos="48000">
                <a:schemeClr val="accent5">
                  <a:lumMod val="67000"/>
                </a:schemeClr>
              </a:gs>
              <a:gs pos="0">
                <a:schemeClr val="tx2">
                  <a:lumMod val="25000"/>
                </a:schemeClr>
              </a:gs>
              <a:gs pos="100000">
                <a:schemeClr val="tx2">
                  <a:lumMod val="10000"/>
                </a:schemeClr>
              </a:gs>
            </a:gsLst>
            <a:lin ang="10800000" scaled="0"/>
          </a:gradFill>
          <a:ln w="3175" cap="flat" cmpd="sng">
            <a:gradFill>
              <a:gsLst>
                <a:gs pos="0">
                  <a:srgbClr val="002060"/>
                </a:gs>
                <a:gs pos="51000">
                  <a:schemeClr val="accent5">
                    <a:lumMod val="75000"/>
                  </a:schemeClr>
                </a:gs>
                <a:gs pos="100000">
                  <a:srgbClr val="002060"/>
                </a:gs>
              </a:gsLst>
              <a:lin ang="5400000" scaled="1"/>
            </a:gradFill>
            <a:prstDash val="solid"/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6784258"/>
                      <a:gd name="csY0" fmla="*/ 3389685 h 6779369"/>
                      <a:gd name="csX1" fmla="*/ 3392129 w 6784258"/>
                      <a:gd name="csY1" fmla="*/ 0 h 6779369"/>
                      <a:gd name="csX2" fmla="*/ 6784258 w 6784258"/>
                      <a:gd name="csY2" fmla="*/ 3389685 h 6779369"/>
                      <a:gd name="csX3" fmla="*/ 3392129 w 6784258"/>
                      <a:gd name="csY3" fmla="*/ 6779370 h 6779369"/>
                      <a:gd name="csX4" fmla="*/ 0 w 6784258"/>
                      <a:gd name="csY4" fmla="*/ 3389685 h 677936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6784258" h="6779369" fill="none" extrusionOk="0">
                        <a:moveTo>
                          <a:pt x="0" y="3389685"/>
                        </a:moveTo>
                        <a:cubicBezTo>
                          <a:pt x="254134" y="1547762"/>
                          <a:pt x="1581705" y="-129647"/>
                          <a:pt x="3392129" y="0"/>
                        </a:cubicBezTo>
                        <a:cubicBezTo>
                          <a:pt x="4962537" y="-46402"/>
                          <a:pt x="6561996" y="1726872"/>
                          <a:pt x="6784258" y="3389685"/>
                        </a:cubicBezTo>
                        <a:cubicBezTo>
                          <a:pt x="6762174" y="5051157"/>
                          <a:pt x="5104322" y="7003431"/>
                          <a:pt x="3392129" y="6779370"/>
                        </a:cubicBezTo>
                        <a:cubicBezTo>
                          <a:pt x="1631229" y="6842364"/>
                          <a:pt x="98020" y="5285324"/>
                          <a:pt x="0" y="3389685"/>
                        </a:cubicBezTo>
                        <a:close/>
                      </a:path>
                      <a:path w="6784258" h="6779369" stroke="0" extrusionOk="0">
                        <a:moveTo>
                          <a:pt x="0" y="3389685"/>
                        </a:moveTo>
                        <a:cubicBezTo>
                          <a:pt x="-92677" y="1460449"/>
                          <a:pt x="1201413" y="119086"/>
                          <a:pt x="3392129" y="0"/>
                        </a:cubicBezTo>
                        <a:cubicBezTo>
                          <a:pt x="5430572" y="34741"/>
                          <a:pt x="6534295" y="1525562"/>
                          <a:pt x="6784258" y="3389685"/>
                        </a:cubicBezTo>
                        <a:cubicBezTo>
                          <a:pt x="6597623" y="5444015"/>
                          <a:pt x="5249937" y="6865667"/>
                          <a:pt x="3392129" y="6779370"/>
                        </a:cubicBezTo>
                        <a:cubicBezTo>
                          <a:pt x="1430768" y="6731256"/>
                          <a:pt x="56147" y="5288583"/>
                          <a:pt x="0" y="338968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YT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F5F3D63E-D3AF-5E7F-EE99-24397F8AF670}"/>
              </a:ext>
            </a:extLst>
          </p:cNvPr>
          <p:cNvSpPr txBox="1"/>
          <p:nvPr/>
        </p:nvSpPr>
        <p:spPr>
          <a:xfrm>
            <a:off x="-851471" y="7409633"/>
            <a:ext cx="8860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Aharoni" panose="02010803020104030203" pitchFamily="2" charset="-79"/>
                <a:cs typeface="Aharoni" panose="02010803020104030203" pitchFamily="2" charset="-79"/>
              </a:rPr>
              <a:t>Entraide et Esprit d'équipe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FEB6FCC7-467C-EC83-9FFA-42BF84760232}"/>
              </a:ext>
            </a:extLst>
          </p:cNvPr>
          <p:cNvSpPr txBox="1"/>
          <p:nvPr/>
        </p:nvSpPr>
        <p:spPr>
          <a:xfrm>
            <a:off x="4372483" y="3227670"/>
            <a:ext cx="39147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latin typeface="Aharoni" panose="02010803020104030203" pitchFamily="2" charset="-79"/>
                <a:cs typeface="Aharoni" panose="02010803020104030203" pitchFamily="2" charset="-79"/>
              </a:rPr>
              <a:t>Ponctualité et Assiduité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D1CB633C-E1BC-782A-58F5-E67C2FD7256C}"/>
              </a:ext>
            </a:extLst>
          </p:cNvPr>
          <p:cNvSpPr txBox="1"/>
          <p:nvPr/>
        </p:nvSpPr>
        <p:spPr>
          <a:xfrm>
            <a:off x="709168" y="4029696"/>
            <a:ext cx="68770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latin typeface="Aharoni" panose="02010803020104030203" pitchFamily="2" charset="-79"/>
                <a:cs typeface="Aharoni" panose="02010803020104030203" pitchFamily="2" charset="-79"/>
              </a:rPr>
              <a:t>Respect et Communication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61CE0425-55D6-F84C-4D42-F537129C385D}"/>
              </a:ext>
            </a:extLst>
          </p:cNvPr>
          <p:cNvSpPr txBox="1"/>
          <p:nvPr/>
        </p:nvSpPr>
        <p:spPr>
          <a:xfrm>
            <a:off x="534944" y="5007911"/>
            <a:ext cx="304385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latin typeface="Aharoni" panose="02010803020104030203" pitchFamily="2" charset="-79"/>
                <a:cs typeface="Aharoni" panose="02010803020104030203" pitchFamily="2" charset="-79"/>
              </a:rPr>
              <a:t>Engagement et Travail personnel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B1C47903-7F19-6F85-BA46-514068568A46}"/>
              </a:ext>
            </a:extLst>
          </p:cNvPr>
          <p:cNvSpPr txBox="1"/>
          <p:nvPr/>
        </p:nvSpPr>
        <p:spPr>
          <a:xfrm>
            <a:off x="211900" y="8387848"/>
            <a:ext cx="68770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latin typeface="Aharoni" panose="02010803020104030203" pitchFamily="2" charset="-79"/>
                <a:cs typeface="Aharoni" panose="02010803020104030203" pitchFamily="2" charset="-79"/>
              </a:rPr>
              <a:t>Posture Professionnelle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AC166ACB-80B0-CA53-9C9A-7C933614F431}"/>
              </a:ext>
            </a:extLst>
          </p:cNvPr>
          <p:cNvSpPr txBox="1"/>
          <p:nvPr/>
        </p:nvSpPr>
        <p:spPr>
          <a:xfrm>
            <a:off x="575818" y="478897"/>
            <a:ext cx="7955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Règle de fonctionnement</a:t>
            </a:r>
            <a:endParaRPr lang="fr-YT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4817537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78C15-DF55-361C-EAA3-600055669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rganigramme : Connecteur 22">
            <a:extLst>
              <a:ext uri="{FF2B5EF4-FFF2-40B4-BE49-F238E27FC236}">
                <a16:creationId xmlns:a16="http://schemas.microsoft.com/office/drawing/2014/main" id="{9352AE0B-AD5D-8A54-C9DE-A53579B67BD2}"/>
              </a:ext>
            </a:extLst>
          </p:cNvPr>
          <p:cNvSpPr/>
          <p:nvPr/>
        </p:nvSpPr>
        <p:spPr>
          <a:xfrm>
            <a:off x="3404572" y="4337247"/>
            <a:ext cx="5382856" cy="5359203"/>
          </a:xfrm>
          <a:prstGeom prst="flowChartConnector">
            <a:avLst/>
          </a:prstGeom>
          <a:gradFill>
            <a:gsLst>
              <a:gs pos="48000">
                <a:schemeClr val="accent5">
                  <a:lumMod val="67000"/>
                </a:schemeClr>
              </a:gs>
              <a:gs pos="0">
                <a:schemeClr val="tx2">
                  <a:lumMod val="25000"/>
                </a:schemeClr>
              </a:gs>
              <a:gs pos="100000">
                <a:schemeClr val="tx2">
                  <a:lumMod val="10000"/>
                </a:schemeClr>
              </a:gs>
            </a:gsLst>
            <a:lin ang="13200000" scaled="0"/>
          </a:gradFill>
          <a:ln w="3175" cap="flat" cmpd="sng">
            <a:gradFill>
              <a:gsLst>
                <a:gs pos="0">
                  <a:srgbClr val="002060"/>
                </a:gs>
                <a:gs pos="51000">
                  <a:schemeClr val="accent5">
                    <a:lumMod val="75000"/>
                  </a:schemeClr>
                </a:gs>
                <a:gs pos="100000">
                  <a:srgbClr val="002060"/>
                </a:gs>
              </a:gsLst>
              <a:lin ang="5400000" scaled="1"/>
            </a:gradFill>
            <a:prstDash val="solid"/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6784258"/>
                      <a:gd name="csY0" fmla="*/ 3389685 h 6779369"/>
                      <a:gd name="csX1" fmla="*/ 3392129 w 6784258"/>
                      <a:gd name="csY1" fmla="*/ 0 h 6779369"/>
                      <a:gd name="csX2" fmla="*/ 6784258 w 6784258"/>
                      <a:gd name="csY2" fmla="*/ 3389685 h 6779369"/>
                      <a:gd name="csX3" fmla="*/ 3392129 w 6784258"/>
                      <a:gd name="csY3" fmla="*/ 6779370 h 6779369"/>
                      <a:gd name="csX4" fmla="*/ 0 w 6784258"/>
                      <a:gd name="csY4" fmla="*/ 3389685 h 677936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6784258" h="6779369" fill="none" extrusionOk="0">
                        <a:moveTo>
                          <a:pt x="0" y="3389685"/>
                        </a:moveTo>
                        <a:cubicBezTo>
                          <a:pt x="254134" y="1547762"/>
                          <a:pt x="1581705" y="-129647"/>
                          <a:pt x="3392129" y="0"/>
                        </a:cubicBezTo>
                        <a:cubicBezTo>
                          <a:pt x="4962537" y="-46402"/>
                          <a:pt x="6561996" y="1726872"/>
                          <a:pt x="6784258" y="3389685"/>
                        </a:cubicBezTo>
                        <a:cubicBezTo>
                          <a:pt x="6762174" y="5051157"/>
                          <a:pt x="5104322" y="7003431"/>
                          <a:pt x="3392129" y="6779370"/>
                        </a:cubicBezTo>
                        <a:cubicBezTo>
                          <a:pt x="1631229" y="6842364"/>
                          <a:pt x="98020" y="5285324"/>
                          <a:pt x="0" y="3389685"/>
                        </a:cubicBezTo>
                        <a:close/>
                      </a:path>
                      <a:path w="6784258" h="6779369" stroke="0" extrusionOk="0">
                        <a:moveTo>
                          <a:pt x="0" y="3389685"/>
                        </a:moveTo>
                        <a:cubicBezTo>
                          <a:pt x="-92677" y="1460449"/>
                          <a:pt x="1201413" y="119086"/>
                          <a:pt x="3392129" y="0"/>
                        </a:cubicBezTo>
                        <a:cubicBezTo>
                          <a:pt x="5430572" y="34741"/>
                          <a:pt x="6534295" y="1525562"/>
                          <a:pt x="6784258" y="3389685"/>
                        </a:cubicBezTo>
                        <a:cubicBezTo>
                          <a:pt x="6597623" y="5444015"/>
                          <a:pt x="5249937" y="6865667"/>
                          <a:pt x="3392129" y="6779370"/>
                        </a:cubicBezTo>
                        <a:cubicBezTo>
                          <a:pt x="1430768" y="6731256"/>
                          <a:pt x="56147" y="5288583"/>
                          <a:pt x="0" y="338968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YT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540806B5-6912-E590-04BA-25ABEE34E8C7}"/>
              </a:ext>
            </a:extLst>
          </p:cNvPr>
          <p:cNvSpPr txBox="1"/>
          <p:nvPr/>
        </p:nvSpPr>
        <p:spPr>
          <a:xfrm>
            <a:off x="0" y="5086128"/>
            <a:ext cx="8860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Aharoni" panose="02010803020104030203" pitchFamily="2" charset="-79"/>
                <a:cs typeface="Aharoni" panose="02010803020104030203" pitchFamily="2" charset="-79"/>
              </a:rPr>
              <a:t>Entraide et Esprit d'équipe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DA15C0A8-C38E-4366-9847-88AEE2709C30}"/>
              </a:ext>
            </a:extLst>
          </p:cNvPr>
          <p:cNvSpPr txBox="1"/>
          <p:nvPr/>
        </p:nvSpPr>
        <p:spPr>
          <a:xfrm>
            <a:off x="8086765" y="4337247"/>
            <a:ext cx="39147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latin typeface="Aharoni" panose="02010803020104030203" pitchFamily="2" charset="-79"/>
                <a:cs typeface="Aharoni" panose="02010803020104030203" pitchFamily="2" charset="-79"/>
              </a:rPr>
              <a:t>Ponctualité et Assiduité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7A459842-87CD-D148-679C-D83EB9CBDCC4}"/>
              </a:ext>
            </a:extLst>
          </p:cNvPr>
          <p:cNvSpPr txBox="1"/>
          <p:nvPr/>
        </p:nvSpPr>
        <p:spPr>
          <a:xfrm>
            <a:off x="4256635" y="3126700"/>
            <a:ext cx="68770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latin typeface="Aharoni" panose="02010803020104030203" pitchFamily="2" charset="-79"/>
                <a:cs typeface="Aharoni" panose="02010803020104030203" pitchFamily="2" charset="-79"/>
              </a:rPr>
              <a:t>Respect et Communication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191543FC-47A9-36B0-92CF-50F33082ECB3}"/>
              </a:ext>
            </a:extLst>
          </p:cNvPr>
          <p:cNvSpPr txBox="1"/>
          <p:nvPr/>
        </p:nvSpPr>
        <p:spPr>
          <a:xfrm>
            <a:off x="1212782" y="3921748"/>
            <a:ext cx="304385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latin typeface="Aharoni" panose="02010803020104030203" pitchFamily="2" charset="-79"/>
                <a:cs typeface="Aharoni" panose="02010803020104030203" pitchFamily="2" charset="-79"/>
              </a:rPr>
              <a:t>Engagement et Travail personnel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569F16D2-CD6B-4B0C-64DB-8997F4A214E4}"/>
              </a:ext>
            </a:extLst>
          </p:cNvPr>
          <p:cNvSpPr txBox="1"/>
          <p:nvPr/>
        </p:nvSpPr>
        <p:spPr>
          <a:xfrm>
            <a:off x="-357632" y="7518402"/>
            <a:ext cx="68770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latin typeface="Aharoni" panose="02010803020104030203" pitchFamily="2" charset="-79"/>
                <a:cs typeface="Aharoni" panose="02010803020104030203" pitchFamily="2" charset="-79"/>
              </a:rPr>
              <a:t>Posture Professionnelle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AFC5AD9-13EE-13BA-41F4-39F085BB366A}"/>
              </a:ext>
            </a:extLst>
          </p:cNvPr>
          <p:cNvSpPr txBox="1"/>
          <p:nvPr/>
        </p:nvSpPr>
        <p:spPr>
          <a:xfrm>
            <a:off x="575818" y="478897"/>
            <a:ext cx="7955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Règle de fonctionnement</a:t>
            </a:r>
            <a:endParaRPr lang="fr-YT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6062838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6A09C-BB4A-CDD8-01CE-B4AE34D30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rganigramme : Connecteur 22">
            <a:extLst>
              <a:ext uri="{FF2B5EF4-FFF2-40B4-BE49-F238E27FC236}">
                <a16:creationId xmlns:a16="http://schemas.microsoft.com/office/drawing/2014/main" id="{EDBA44A1-CD4B-B469-6FC8-4A6FF7765BD3}"/>
              </a:ext>
            </a:extLst>
          </p:cNvPr>
          <p:cNvSpPr/>
          <p:nvPr/>
        </p:nvSpPr>
        <p:spPr>
          <a:xfrm>
            <a:off x="3404572" y="4337247"/>
            <a:ext cx="5382856" cy="5359203"/>
          </a:xfrm>
          <a:prstGeom prst="flowChartConnector">
            <a:avLst/>
          </a:prstGeom>
          <a:gradFill>
            <a:gsLst>
              <a:gs pos="48000">
                <a:schemeClr val="accent5">
                  <a:lumMod val="67000"/>
                </a:schemeClr>
              </a:gs>
              <a:gs pos="0">
                <a:schemeClr val="tx2">
                  <a:lumMod val="25000"/>
                </a:schemeClr>
              </a:gs>
              <a:gs pos="100000">
                <a:schemeClr val="tx2">
                  <a:lumMod val="10000"/>
                </a:schemeClr>
              </a:gs>
            </a:gsLst>
            <a:lin ang="15000000" scaled="0"/>
          </a:gradFill>
          <a:ln w="3175" cap="flat" cmpd="sng">
            <a:gradFill>
              <a:gsLst>
                <a:gs pos="0">
                  <a:srgbClr val="002060"/>
                </a:gs>
                <a:gs pos="51000">
                  <a:schemeClr val="accent5">
                    <a:lumMod val="75000"/>
                  </a:schemeClr>
                </a:gs>
                <a:gs pos="100000">
                  <a:srgbClr val="002060"/>
                </a:gs>
              </a:gsLst>
              <a:lin ang="5400000" scaled="1"/>
            </a:gradFill>
            <a:prstDash val="solid"/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6784258"/>
                      <a:gd name="csY0" fmla="*/ 3389685 h 6779369"/>
                      <a:gd name="csX1" fmla="*/ 3392129 w 6784258"/>
                      <a:gd name="csY1" fmla="*/ 0 h 6779369"/>
                      <a:gd name="csX2" fmla="*/ 6784258 w 6784258"/>
                      <a:gd name="csY2" fmla="*/ 3389685 h 6779369"/>
                      <a:gd name="csX3" fmla="*/ 3392129 w 6784258"/>
                      <a:gd name="csY3" fmla="*/ 6779370 h 6779369"/>
                      <a:gd name="csX4" fmla="*/ 0 w 6784258"/>
                      <a:gd name="csY4" fmla="*/ 3389685 h 677936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6784258" h="6779369" fill="none" extrusionOk="0">
                        <a:moveTo>
                          <a:pt x="0" y="3389685"/>
                        </a:moveTo>
                        <a:cubicBezTo>
                          <a:pt x="254134" y="1547762"/>
                          <a:pt x="1581705" y="-129647"/>
                          <a:pt x="3392129" y="0"/>
                        </a:cubicBezTo>
                        <a:cubicBezTo>
                          <a:pt x="4962537" y="-46402"/>
                          <a:pt x="6561996" y="1726872"/>
                          <a:pt x="6784258" y="3389685"/>
                        </a:cubicBezTo>
                        <a:cubicBezTo>
                          <a:pt x="6762174" y="5051157"/>
                          <a:pt x="5104322" y="7003431"/>
                          <a:pt x="3392129" y="6779370"/>
                        </a:cubicBezTo>
                        <a:cubicBezTo>
                          <a:pt x="1631229" y="6842364"/>
                          <a:pt x="98020" y="5285324"/>
                          <a:pt x="0" y="3389685"/>
                        </a:cubicBezTo>
                        <a:close/>
                      </a:path>
                      <a:path w="6784258" h="6779369" stroke="0" extrusionOk="0">
                        <a:moveTo>
                          <a:pt x="0" y="3389685"/>
                        </a:moveTo>
                        <a:cubicBezTo>
                          <a:pt x="-92677" y="1460449"/>
                          <a:pt x="1201413" y="119086"/>
                          <a:pt x="3392129" y="0"/>
                        </a:cubicBezTo>
                        <a:cubicBezTo>
                          <a:pt x="5430572" y="34741"/>
                          <a:pt x="6534295" y="1525562"/>
                          <a:pt x="6784258" y="3389685"/>
                        </a:cubicBezTo>
                        <a:cubicBezTo>
                          <a:pt x="6597623" y="5444015"/>
                          <a:pt x="5249937" y="6865667"/>
                          <a:pt x="3392129" y="6779370"/>
                        </a:cubicBezTo>
                        <a:cubicBezTo>
                          <a:pt x="1430768" y="6731256"/>
                          <a:pt x="56147" y="5288583"/>
                          <a:pt x="0" y="338968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YT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0EA3A95E-A0FA-C901-2A62-E4E17A03B6E6}"/>
              </a:ext>
            </a:extLst>
          </p:cNvPr>
          <p:cNvSpPr txBox="1"/>
          <p:nvPr/>
        </p:nvSpPr>
        <p:spPr>
          <a:xfrm>
            <a:off x="461246" y="4038158"/>
            <a:ext cx="8860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Aharoni" panose="02010803020104030203" pitchFamily="2" charset="-79"/>
                <a:cs typeface="Aharoni" panose="02010803020104030203" pitchFamily="2" charset="-79"/>
              </a:rPr>
              <a:t>Entraide et Esprit d'équipe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E9DCBE24-132E-8A9A-BEB6-FDEDE832572D}"/>
              </a:ext>
            </a:extLst>
          </p:cNvPr>
          <p:cNvSpPr txBox="1"/>
          <p:nvPr/>
        </p:nvSpPr>
        <p:spPr>
          <a:xfrm>
            <a:off x="8664448" y="5547793"/>
            <a:ext cx="39147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latin typeface="Aharoni" panose="02010803020104030203" pitchFamily="2" charset="-79"/>
                <a:cs typeface="Aharoni" panose="02010803020104030203" pitchFamily="2" charset="-79"/>
              </a:rPr>
              <a:t>Ponctualité et Assiduité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62D3E5E3-8958-BD0C-0C44-3543A3229A26}"/>
              </a:ext>
            </a:extLst>
          </p:cNvPr>
          <p:cNvSpPr txBox="1"/>
          <p:nvPr/>
        </p:nvSpPr>
        <p:spPr>
          <a:xfrm>
            <a:off x="7935367" y="4341239"/>
            <a:ext cx="68770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latin typeface="Aharoni" panose="02010803020104030203" pitchFamily="2" charset="-79"/>
                <a:cs typeface="Aharoni" panose="02010803020104030203" pitchFamily="2" charset="-79"/>
              </a:rPr>
              <a:t>Respect et Communication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3887FBB5-FD55-6B22-1753-D632141219A9}"/>
              </a:ext>
            </a:extLst>
          </p:cNvPr>
          <p:cNvSpPr txBox="1"/>
          <p:nvPr/>
        </p:nvSpPr>
        <p:spPr>
          <a:xfrm>
            <a:off x="4891514" y="2923937"/>
            <a:ext cx="304385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latin typeface="Aharoni" panose="02010803020104030203" pitchFamily="2" charset="-79"/>
                <a:cs typeface="Aharoni" panose="02010803020104030203" pitchFamily="2" charset="-79"/>
              </a:rPr>
              <a:t>Engagement et Travail personnel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1184317D-0155-1556-E7A4-593931BD5736}"/>
              </a:ext>
            </a:extLst>
          </p:cNvPr>
          <p:cNvSpPr txBox="1"/>
          <p:nvPr/>
        </p:nvSpPr>
        <p:spPr>
          <a:xfrm>
            <a:off x="-33953" y="5660750"/>
            <a:ext cx="68770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latin typeface="Aharoni" panose="02010803020104030203" pitchFamily="2" charset="-79"/>
                <a:cs typeface="Aharoni" panose="02010803020104030203" pitchFamily="2" charset="-79"/>
              </a:rPr>
              <a:t>Posture Professionnelle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BDFA5EC-2B41-4BDE-0253-EC63ABEC4E9D}"/>
              </a:ext>
            </a:extLst>
          </p:cNvPr>
          <p:cNvSpPr txBox="1"/>
          <p:nvPr/>
        </p:nvSpPr>
        <p:spPr>
          <a:xfrm>
            <a:off x="575818" y="478897"/>
            <a:ext cx="7955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Règle de fonctionnement</a:t>
            </a:r>
            <a:endParaRPr lang="fr-YT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5545344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BD2766-EFD8-854F-C4F6-258E6BA05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54D13B9-ED18-C338-7B5C-5CDECEC55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21606492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TM04033921[[fn=Damas]]</Template>
  <TotalTime>186</TotalTime>
  <Words>140</Words>
  <Application>Microsoft Office PowerPoint</Application>
  <PresentationFormat>Grand écran</PresentationFormat>
  <Paragraphs>42</Paragraphs>
  <Slides>8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4" baseType="lpstr">
      <vt:lpstr>Aharoni</vt:lpstr>
      <vt:lpstr>Aptos</vt:lpstr>
      <vt:lpstr>Arial</vt:lpstr>
      <vt:lpstr>Bookman Old Style</vt:lpstr>
      <vt:lpstr>Rockwell</vt:lpstr>
      <vt:lpstr>Damask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Aloe VERA</dc:creator>
  <cp:lastModifiedBy>Aloe VERA</cp:lastModifiedBy>
  <cp:revision>1</cp:revision>
  <dcterms:created xsi:type="dcterms:W3CDTF">2026-03-05T08:48:58Z</dcterms:created>
  <dcterms:modified xsi:type="dcterms:W3CDTF">2026-03-05T11:55:01Z</dcterms:modified>
</cp:coreProperties>
</file>